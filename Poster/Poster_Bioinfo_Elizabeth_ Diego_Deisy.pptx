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7" r:id="rId5"/>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703"/>
  </p:normalViewPr>
  <p:slideViewPr>
    <p:cSldViewPr snapToGrid="0">
      <p:cViewPr>
        <p:scale>
          <a:sx n="66" d="100"/>
          <a:sy n="66"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7" y="8324763"/>
            <a:ext cx="14668990" cy="9121410"/>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42764" y="3484256"/>
            <a:ext cx="14668990" cy="2625134"/>
            <a:chOff x="242764" y="3930299"/>
            <a:chExt cx="14668990" cy="1733969"/>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42764" y="4475857"/>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La dieta y la inactividad física son factores implicados en el desarrollo de la obesidad. Sin embargo, en los últimos años el aumento en la prevalencia de esta condición incluyendo aquellos individuos que mantienen hábitos saludables, sugiere la participación de otros factores. Entre ellos las características genéticas pueden influir de manera significativa en la predisposición a la obesidad. En este contexto, el objetivo de nuestro trabajo fue caracterizar los genes diferencialmente expresados en dos poblaciones con fenotipos obesos (Obeso 1 frente a Obeso 2) mediante un análisis de RNA-</a:t>
              </a:r>
              <a:r>
                <a:rPr lang="es-ES" i="1" dirty="0" err="1">
                  <a:solidFill>
                    <a:schemeClr val="tx1"/>
                  </a:solidFill>
                </a:rPr>
                <a:t>seq</a:t>
              </a:r>
              <a:r>
                <a:rPr lang="es-ES" i="1" dirty="0">
                  <a:solidFill>
                    <a:schemeClr val="tx1"/>
                  </a:solidFill>
                </a:rPr>
                <a:t>. Para ello se aplicó un pipeline bioinformático que incluyó la cuantificación, normalización y visualización de los datos, con el fin de identificar las diferencias en la expresión génica asociadas a distintos fenotipos de obesidad. </a:t>
              </a:r>
              <a:r>
                <a:rPr lang="es-ES_tradnl" i="1" dirty="0">
                  <a:solidFill>
                    <a:schemeClr val="tx1"/>
                  </a:solidFill>
                </a:rPr>
                <a:t>  </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7" y="6339138"/>
            <a:ext cx="14668990" cy="1851946"/>
            <a:chOff x="172430" y="6751056"/>
            <a:chExt cx="14668990" cy="2043957"/>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172430" y="7063663"/>
              <a:ext cx="14668990" cy="1731350"/>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Se evaluó la calidad de los archivos FASTQ mediante </a:t>
              </a:r>
              <a:r>
                <a:rPr lang="es-ES" i="1" dirty="0" err="1">
                  <a:solidFill>
                    <a:schemeClr val="tx1"/>
                  </a:solidFill>
                </a:rPr>
                <a:t>FastQC</a:t>
              </a:r>
              <a:r>
                <a:rPr lang="es-ES" i="1" dirty="0">
                  <a:solidFill>
                    <a:schemeClr val="tx1"/>
                  </a:solidFill>
                </a:rPr>
                <a:t> y </a:t>
              </a:r>
              <a:r>
                <a:rPr lang="es-ES" i="1" dirty="0" err="1">
                  <a:solidFill>
                    <a:schemeClr val="tx1"/>
                  </a:solidFill>
                </a:rPr>
                <a:t>MultiQC</a:t>
              </a:r>
              <a:r>
                <a:rPr lang="es-ES" i="1" dirty="0">
                  <a:solidFill>
                    <a:schemeClr val="tx1"/>
                  </a:solidFill>
                </a:rPr>
                <a:t> para comprobar la integridad de las lecturas y descartar problemas técnicos. Mediante un </a:t>
              </a:r>
              <a:r>
                <a:rPr lang="es-ES" i="1" dirty="0" err="1">
                  <a:solidFill>
                    <a:schemeClr val="tx1"/>
                  </a:solidFill>
                </a:rPr>
                <a:t>pseudoalineamiento</a:t>
              </a:r>
              <a:r>
                <a:rPr lang="es-ES" i="1" dirty="0">
                  <a:solidFill>
                    <a:schemeClr val="tx1"/>
                  </a:solidFill>
                </a:rPr>
                <a:t> (Salmon) se generó una matriz de conteos con la abundancia de cada gen en cada muestra, que se usó como entrada para un análisis de expresión diferencial con DESeq2. Los genes significativos se representaron mediante </a:t>
              </a:r>
              <a:r>
                <a:rPr lang="es-ES" i="1" dirty="0" err="1">
                  <a:solidFill>
                    <a:schemeClr val="tx1"/>
                  </a:solidFill>
                </a:rPr>
                <a:t>volcano</a:t>
              </a:r>
              <a:r>
                <a:rPr lang="es-ES" i="1" dirty="0">
                  <a:solidFill>
                    <a:schemeClr val="tx1"/>
                  </a:solidFill>
                </a:rPr>
                <a:t> </a:t>
              </a:r>
              <a:r>
                <a:rPr lang="es-ES" i="1" dirty="0" err="1">
                  <a:solidFill>
                    <a:schemeClr val="tx1"/>
                  </a:solidFill>
                </a:rPr>
                <a:t>plots</a:t>
              </a:r>
              <a:r>
                <a:rPr lang="es-ES" i="1" dirty="0">
                  <a:solidFill>
                    <a:schemeClr val="tx1"/>
                  </a:solidFill>
                </a:rPr>
                <a:t> y </a:t>
              </a:r>
              <a:r>
                <a:rPr lang="es-ES" i="1" dirty="0" err="1">
                  <a:solidFill>
                    <a:schemeClr val="tx1"/>
                  </a:solidFill>
                </a:rPr>
                <a:t>heatmaps</a:t>
              </a:r>
              <a:r>
                <a:rPr lang="es-ES" i="1" dirty="0">
                  <a:solidFill>
                    <a:schemeClr val="tx1"/>
                  </a:solidFill>
                </a:rPr>
                <a:t>. Algunos genes diferencialmente expresados no presentaban valores de expresión válidos en todas las muestras, por lo que se filtraron genes con valores NA o varianza nula antes de la visualización de las gráficas. </a:t>
              </a:r>
              <a:endParaRPr lang="es-ES_tradnl"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382358" y="6751056"/>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07597" y="17623391"/>
            <a:ext cx="8353586" cy="3279887"/>
            <a:chOff x="228517" y="17303689"/>
            <a:chExt cx="8353586" cy="3844743"/>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8517" y="17620212"/>
              <a:ext cx="8353586"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Se identificaron cinco genes diferencialmente expresados (UBR2, FTO, MC4R, SIM1 y LEPR), en el grupo Obeso 1 se observó una mayor expresión de FTO, MC4R y SIM1, genes implicados en la regulación central del apetito, afectando la señalización de saciedad gastrointestinal en el hipotálamo y el gasto energético. </a:t>
              </a:r>
            </a:p>
            <a:p>
              <a:pPr algn="just">
                <a:lnSpc>
                  <a:spcPct val="80000"/>
                </a:lnSpc>
              </a:pPr>
              <a:endParaRPr lang="es-ES" i="1" dirty="0">
                <a:solidFill>
                  <a:schemeClr val="tx1"/>
                </a:solidFill>
              </a:endParaRPr>
            </a:p>
            <a:p>
              <a:pPr algn="just">
                <a:lnSpc>
                  <a:spcPct val="80000"/>
                </a:lnSpc>
              </a:pPr>
              <a:r>
                <a:rPr lang="es-ES" i="1" dirty="0">
                  <a:solidFill>
                    <a:schemeClr val="tx1"/>
                  </a:solidFill>
                </a:rPr>
                <a:t>El grupo Obeso 2 mostró una marcada sobreexpresión de LEPR, indicativa de posibles alteraciones en la señalización de la leptina y resistencia hormonal periférica. Finalmente El gen UBR2 presentó la mayor significancia estadística (</a:t>
              </a:r>
              <a:r>
                <a:rPr lang="es-ES" i="1" dirty="0" err="1">
                  <a:solidFill>
                    <a:schemeClr val="tx1"/>
                  </a:solidFill>
                </a:rPr>
                <a:t>padj</a:t>
              </a:r>
              <a:r>
                <a:rPr lang="es-ES" i="1" dirty="0">
                  <a:solidFill>
                    <a:schemeClr val="tx1"/>
                  </a:solidFill>
                </a:rPr>
                <a:t> = 2,99 × 10⁻⁸), reforzando la diferenciación genética entre ambos grupos. </a:t>
              </a:r>
              <a:endParaRPr lang="es-ES_tradnl" sz="2400"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8802827" y="17623390"/>
            <a:ext cx="6108926" cy="3267252"/>
            <a:chOff x="6866711" y="17265405"/>
            <a:chExt cx="8092529" cy="3862360"/>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6866711" y="17599545"/>
              <a:ext cx="8092529"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Nues</a:t>
              </a:r>
              <a:r>
                <a:rPr lang="es-ES" i="1" dirty="0" err="1">
                  <a:solidFill>
                    <a:schemeClr val="tx1"/>
                  </a:solidFill>
                </a:rPr>
                <a:t>tros</a:t>
              </a:r>
              <a:r>
                <a:rPr lang="es-ES" i="1" dirty="0">
                  <a:solidFill>
                    <a:schemeClr val="tx1"/>
                  </a:solidFill>
                </a:rPr>
                <a:t> resultados sugieren la existencia de mecanismos fisiopatológicos diferentes, mientras el grupo Obeso 1 predomina las alteraciones relacionadas con el apetito y la saciedad, en el grupo Obeso 2 se destacan cambios relacionados con la señalización hormonal vinculados a la leptina. Estos resultados demuestran la utilidad del enfoque de RNA-</a:t>
              </a:r>
              <a:r>
                <a:rPr lang="es-ES" i="1" dirty="0" err="1">
                  <a:solidFill>
                    <a:schemeClr val="tx1"/>
                  </a:solidFill>
                </a:rPr>
                <a:t>seq</a:t>
              </a:r>
              <a:r>
                <a:rPr lang="es-ES" i="1" dirty="0">
                  <a:solidFill>
                    <a:schemeClr val="tx1"/>
                  </a:solidFill>
                </a:rPr>
                <a:t> y el análisis bioinformático para la caracterización de los distintos fenotipos de obesidad.</a:t>
              </a: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7385701" y="1726540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 expresión diferencial de genes relacionados con la Obesidad mediante RNA-</a:t>
            </a:r>
            <a:r>
              <a:rPr lang="es-ES_tradnl" sz="4000" b="1" dirty="0" err="1">
                <a:solidFill>
                  <a:schemeClr val="bg1"/>
                </a:solidFill>
              </a:rPr>
              <a:t>seq</a:t>
            </a:r>
            <a:endParaRPr lang="es-ES_tradnl" sz="4000" b="1" dirty="0">
              <a:solidFill>
                <a:schemeClr val="bg1"/>
              </a:solidFill>
            </a:endParaRPr>
          </a:p>
          <a:p>
            <a:pPr algn="ctr">
              <a:lnSpc>
                <a:spcPct val="80000"/>
              </a:lnSpc>
            </a:pPr>
            <a:r>
              <a:rPr lang="es-ES_tradnl" sz="2800" b="1" i="1" dirty="0">
                <a:solidFill>
                  <a:schemeClr val="bg1"/>
                </a:solidFill>
              </a:rPr>
              <a:t>Secuenciación y </a:t>
            </a:r>
            <a:r>
              <a:rPr lang="es-ES_tradnl" sz="2800" b="1" i="1" dirty="0" err="1">
                <a:solidFill>
                  <a:schemeClr val="bg1"/>
                </a:solidFill>
              </a:rPr>
              <a:t>Ómicas</a:t>
            </a:r>
            <a:r>
              <a:rPr lang="es-ES_tradnl" sz="2800" b="1" i="1" dirty="0">
                <a:solidFill>
                  <a:schemeClr val="bg1"/>
                </a:solidFill>
              </a:rPr>
              <a:t> de Próxima Generación</a:t>
            </a:r>
            <a:endParaRPr lang="es-ES_tradnl" sz="3600" b="1" i="1" dirty="0">
              <a:solidFill>
                <a:schemeClr val="bg1"/>
              </a:solidFill>
            </a:endParaRPr>
          </a:p>
          <a:p>
            <a:pPr algn="ctr">
              <a:lnSpc>
                <a:spcPct val="80000"/>
              </a:lnSpc>
            </a:pPr>
            <a:r>
              <a:rPr lang="es-ES_tradnl" sz="2000" b="1" i="1" dirty="0">
                <a:solidFill>
                  <a:schemeClr val="bg1"/>
                </a:solidFill>
              </a:rPr>
              <a:t>Elizabeth Rojas, Diego Montilla, Deisy Martinez .</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7463772" y="9331606"/>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a:t>
            </a:r>
            <a:r>
              <a:rPr lang="es-ES_tradnl" b="1" dirty="0">
                <a:solidFill>
                  <a:srgbClr val="4196C9"/>
                </a:solidFill>
                <a:latin typeface="Aptos" panose="02110004020202020204"/>
              </a:rPr>
              <a:t>2</a:t>
            </a: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 los cinco genes diferencialmente expresados entre los grupos Obeso1 y Obeso2, basado en valores de TPM transformados en log2 y escalados por fila.</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380659" y="9331606"/>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a:t>
            </a:r>
            <a:r>
              <a:rPr lang="es-ES_tradnl" b="1" dirty="0">
                <a:solidFill>
                  <a:srgbClr val="4196C9"/>
                </a:solidFill>
                <a:latin typeface="Aptos" panose="02110004020202020204"/>
              </a:rPr>
              <a:t>1</a:t>
            </a: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 </a:t>
            </a:r>
            <a:r>
              <a:rPr lang="es-ES_tradnl" dirty="0">
                <a:solidFill>
                  <a:prstClr val="black"/>
                </a:solidFill>
                <a:latin typeface="Aptos" panose="02110004020202020204"/>
              </a:rPr>
              <a:t> </a:t>
            </a:r>
            <a:r>
              <a:rPr lang="es-ES_tradnl" dirty="0" err="1">
                <a:solidFill>
                  <a:prstClr val="black"/>
                </a:solidFill>
                <a:latin typeface="Aptos" panose="02110004020202020204"/>
              </a:rPr>
              <a:t>Volcano</a:t>
            </a:r>
            <a:r>
              <a:rPr lang="es-ES_tradnl" dirty="0">
                <a:solidFill>
                  <a:prstClr val="black"/>
                </a:solidFill>
                <a:latin typeface="Aptos" panose="02110004020202020204"/>
              </a:rPr>
              <a:t> </a:t>
            </a:r>
            <a:r>
              <a:rPr lang="es-ES_tradnl" dirty="0" err="1">
                <a:solidFill>
                  <a:prstClr val="black"/>
                </a:solidFill>
                <a:latin typeface="Aptos" panose="02110004020202020204"/>
              </a:rPr>
              <a:t>plot</a:t>
            </a:r>
            <a:r>
              <a:rPr lang="es-ES_tradnl" dirty="0">
                <a:solidFill>
                  <a:prstClr val="black"/>
                </a:solidFill>
                <a:latin typeface="Aptos" panose="02110004020202020204"/>
              </a:rPr>
              <a:t> </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muestra la distribución de los genes según su cambio de expresión (log2FoldChange) y su significación estadística</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3" name="Imagen 12">
            <a:extLst>
              <a:ext uri="{FF2B5EF4-FFF2-40B4-BE49-F238E27FC236}">
                <a16:creationId xmlns:a16="http://schemas.microsoft.com/office/drawing/2014/main" id="{9D547E6F-5B33-9B3C-CB59-A3819AFA9EFA}"/>
              </a:ext>
            </a:extLst>
          </p:cNvPr>
          <p:cNvPicPr>
            <a:picLocks noChangeAspect="1"/>
          </p:cNvPicPr>
          <p:nvPr/>
        </p:nvPicPr>
        <p:blipFill>
          <a:blip r:embed="rId4"/>
          <a:stretch>
            <a:fillRect/>
          </a:stretch>
        </p:blipFill>
        <p:spPr>
          <a:xfrm>
            <a:off x="8046680" y="10294599"/>
            <a:ext cx="6538527" cy="3932261"/>
          </a:xfrm>
          <a:prstGeom prst="rect">
            <a:avLst/>
          </a:prstGeom>
        </p:spPr>
      </p:pic>
      <p:sp>
        <p:nvSpPr>
          <p:cNvPr id="19" name="AutoShape 2">
            <a:extLst>
              <a:ext uri="{FF2B5EF4-FFF2-40B4-BE49-F238E27FC236}">
                <a16:creationId xmlns:a16="http://schemas.microsoft.com/office/drawing/2014/main" id="{D5B89C6A-4F3A-E8F3-BC78-D6B3E56280FE}"/>
              </a:ext>
            </a:extLst>
          </p:cNvPr>
          <p:cNvSpPr>
            <a:spLocks noChangeAspect="1" noChangeArrowheads="1"/>
          </p:cNvSpPr>
          <p:nvPr/>
        </p:nvSpPr>
        <p:spPr bwMode="auto">
          <a:xfrm>
            <a:off x="7407275" y="105394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1" name="Imagen 20">
            <a:extLst>
              <a:ext uri="{FF2B5EF4-FFF2-40B4-BE49-F238E27FC236}">
                <a16:creationId xmlns:a16="http://schemas.microsoft.com/office/drawing/2014/main" id="{E34FA5A7-10BE-1129-014D-A6B0A2B5B66B}"/>
              </a:ext>
            </a:extLst>
          </p:cNvPr>
          <p:cNvPicPr>
            <a:picLocks noChangeAspect="1"/>
          </p:cNvPicPr>
          <p:nvPr/>
        </p:nvPicPr>
        <p:blipFill>
          <a:blip r:embed="rId5"/>
          <a:stretch>
            <a:fillRect/>
          </a:stretch>
        </p:blipFill>
        <p:spPr>
          <a:xfrm>
            <a:off x="534143" y="10235843"/>
            <a:ext cx="6538527" cy="3932261"/>
          </a:xfrm>
          <a:prstGeom prst="rect">
            <a:avLst/>
          </a:prstGeom>
        </p:spPr>
      </p:pic>
      <p:pic>
        <p:nvPicPr>
          <p:cNvPr id="34" name="Imagen 33">
            <a:extLst>
              <a:ext uri="{FF2B5EF4-FFF2-40B4-BE49-F238E27FC236}">
                <a16:creationId xmlns:a16="http://schemas.microsoft.com/office/drawing/2014/main" id="{41227644-ACC8-58AA-7DAD-6E022CDE0966}"/>
              </a:ext>
            </a:extLst>
          </p:cNvPr>
          <p:cNvPicPr>
            <a:picLocks noChangeAspect="1"/>
          </p:cNvPicPr>
          <p:nvPr/>
        </p:nvPicPr>
        <p:blipFill rotWithShape="1">
          <a:blip r:embed="rId6"/>
          <a:srcRect l="11374" t="12792" r="4922" b="15818"/>
          <a:stretch/>
        </p:blipFill>
        <p:spPr>
          <a:xfrm>
            <a:off x="3803406" y="15023230"/>
            <a:ext cx="6692011" cy="2137693"/>
          </a:xfrm>
          <a:prstGeom prst="rect">
            <a:avLst/>
          </a:prstGeom>
        </p:spPr>
      </p:pic>
      <p:sp>
        <p:nvSpPr>
          <p:cNvPr id="36" name="Rectángulo redondeado 1036">
            <a:extLst>
              <a:ext uri="{FF2B5EF4-FFF2-40B4-BE49-F238E27FC236}">
                <a16:creationId xmlns:a16="http://schemas.microsoft.com/office/drawing/2014/main" id="{163E72A6-CDA8-52AA-6A57-27A5E28C9E0A}"/>
              </a:ext>
            </a:extLst>
          </p:cNvPr>
          <p:cNvSpPr/>
          <p:nvPr/>
        </p:nvSpPr>
        <p:spPr>
          <a:xfrm>
            <a:off x="3807164" y="14391657"/>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457200" rtl="0" eaLnBrk="1" fontAlgn="auto" latinLnBrk="0" hangingPunct="1">
              <a:lnSpc>
                <a:spcPct val="80000"/>
              </a:lnSpc>
              <a:spcBef>
                <a:spcPts val="0"/>
              </a:spcBef>
              <a:spcAft>
                <a:spcPts val="0"/>
              </a:spcAft>
              <a:buClrTx/>
              <a:buSzTx/>
              <a:buFontTx/>
              <a:buNone/>
              <a:tabLst/>
              <a:defRPr/>
            </a:pPr>
            <a:r>
              <a:rPr lang="es-ES_tradnl" b="1" dirty="0">
                <a:solidFill>
                  <a:srgbClr val="4196C9"/>
                </a:solidFill>
                <a:latin typeface="Aptos" panose="02110004020202020204"/>
              </a:rPr>
              <a:t>Tabla</a:t>
            </a: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 1. </a:t>
            </a:r>
            <a:r>
              <a:rPr lang="es-ES_tradnl" dirty="0">
                <a:solidFill>
                  <a:prstClr val="black"/>
                </a:solidFill>
                <a:latin typeface="Aptos" panose="02110004020202020204"/>
              </a:rPr>
              <a:t>D</a:t>
            </a:r>
            <a:r>
              <a:rPr lang="es-ES" dirty="0" err="1">
                <a:solidFill>
                  <a:prstClr val="black"/>
                </a:solidFill>
                <a:latin typeface="Aptos" panose="02110004020202020204"/>
              </a:rPr>
              <a:t>etalla</a:t>
            </a:r>
            <a:r>
              <a:rPr lang="es-ES" dirty="0">
                <a:solidFill>
                  <a:prstClr val="black"/>
                </a:solidFill>
                <a:latin typeface="Aptos" panose="02110004020202020204"/>
              </a:rPr>
              <a:t> los 5 genes con mayor significancia estadística tras el análisis con DESeq2.</a:t>
            </a:r>
            <a:endParaRPr lang="es-ES_tradnl" dirty="0">
              <a:solidFill>
                <a:prstClr val="black"/>
              </a:solidFill>
              <a:latin typeface="Aptos" panose="02110004020202020204"/>
            </a:endParaRPr>
          </a:p>
        </p:txBody>
      </p:sp>
    </p:spTree>
    <p:extLst>
      <p:ext uri="{BB962C8B-B14F-4D97-AF65-F5344CB8AC3E}">
        <p14:creationId xmlns:p14="http://schemas.microsoft.com/office/powerpoint/2010/main" val="220350250"/>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Props1.xml><?xml version="1.0" encoding="utf-8"?>
<ds:datastoreItem xmlns:ds="http://schemas.openxmlformats.org/officeDocument/2006/customXml" ds:itemID="{EA933766-0056-42DC-9416-E7C06BCFC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E95016-93A9-4903-BA02-7A05B5939C79}">
  <ds:schemaRefs>
    <ds:schemaRef ds:uri="http://schemas.microsoft.com/sharepoint/v3/contenttype/forms"/>
  </ds:schemaRefs>
</ds:datastoreItem>
</file>

<file path=customXml/itemProps3.xml><?xml version="1.0" encoding="utf-8"?>
<ds:datastoreItem xmlns:ds="http://schemas.openxmlformats.org/officeDocument/2006/customXml" ds:itemID="{D48B5577-5CCE-4E9D-BDFA-952900719EE2}">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309</TotalTime>
  <Words>520</Words>
  <Application>Microsoft Office PowerPoint</Application>
  <PresentationFormat>Personalizado</PresentationFormat>
  <Paragraphs>17</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Aptos</vt:lpstr>
      <vt:lpstr>Aptos Display</vt:lpstr>
      <vt:lpstr>Arial</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Fray Emiliano Lopez</cp:lastModifiedBy>
  <cp:revision>19</cp:revision>
  <dcterms:created xsi:type="dcterms:W3CDTF">2025-04-21T10:03:24Z</dcterms:created>
  <dcterms:modified xsi:type="dcterms:W3CDTF">2025-12-21T14:58:37Z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